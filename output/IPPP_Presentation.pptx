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13248" y="731520"/>
            <a:ext cx="1371600" cy="13716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13248" y="731520"/>
            <a:ext cx="1371600" cy="1371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11457432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Insurer Product</a:t>
            </a:r>
            <a:endParaRPr lang="en-US" sz="4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Proof Platform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3886200"/>
            <a:ext cx="11457432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IPPP — 보험사 상품 검증 관리 플랫폼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4617720"/>
            <a:ext cx="11457432" cy="34747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A9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v1.3  |  2026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08276" y="5623560"/>
            <a:ext cx="1371600" cy="292608"/>
          </a:xfrm>
          <a:prstGeom prst="rect">
            <a:avLst/>
          </a:prstGeom>
          <a:solidFill>
            <a:srgbClr val="1A3357"/>
          </a:solidFill>
          <a:ln w="9525">
            <a:solidFill>
              <a:srgbClr val="2E4F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08276" y="5623560"/>
            <a:ext cx="1371600" cy="29260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08476" y="5623560"/>
            <a:ext cx="1371600" cy="292608"/>
          </a:xfrm>
          <a:prstGeom prst="rect">
            <a:avLst/>
          </a:prstGeom>
          <a:solidFill>
            <a:srgbClr val="1A3357"/>
          </a:solidFill>
          <a:ln w="9525">
            <a:solidFill>
              <a:srgbClr val="2E4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8476" y="5623560"/>
            <a:ext cx="1371600" cy="29260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08676" y="5623560"/>
            <a:ext cx="1371600" cy="292608"/>
          </a:xfrm>
          <a:prstGeom prst="rect">
            <a:avLst/>
          </a:prstGeom>
          <a:solidFill>
            <a:srgbClr val="1A3357"/>
          </a:solidFill>
          <a:ln w="9525">
            <a:solidFill>
              <a:srgbClr val="2E4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8676" y="5623560"/>
            <a:ext cx="1371600" cy="29260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08876" y="5623560"/>
            <a:ext cx="1371600" cy="292608"/>
          </a:xfrm>
          <a:prstGeom prst="rect">
            <a:avLst/>
          </a:prstGeom>
          <a:solidFill>
            <a:srgbClr val="1A3357"/>
          </a:solidFill>
          <a:ln w="9525">
            <a:solidFill>
              <a:srgbClr val="2E4F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08876" y="5623560"/>
            <a:ext cx="1371600" cy="29260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09076" y="5623560"/>
            <a:ext cx="1371600" cy="292608"/>
          </a:xfrm>
          <a:prstGeom prst="rect">
            <a:avLst/>
          </a:prstGeom>
          <a:solidFill>
            <a:srgbClr val="1A3357"/>
          </a:solidFill>
          <a:ln w="9525">
            <a:solidFill>
              <a:srgbClr val="2E4F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09076" y="5623560"/>
            <a:ext cx="1371600" cy="29260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Vercel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1371600" cy="25603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9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/ 16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102687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614416" cy="12001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12001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225296"/>
            <a:ext cx="38404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25296"/>
            <a:ext cx="384048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25296"/>
            <a:ext cx="4882896" cy="3017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 및 배경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" y="155448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플랫폼 목적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177165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사용자 역할 구조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198882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핵심 개념 정의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08776" y="1097280"/>
            <a:ext cx="5614416" cy="12001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1097280"/>
            <a:ext cx="54864" cy="12001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6792" y="1225296"/>
            <a:ext cx="38404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225296"/>
            <a:ext cx="384048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03136" y="1225296"/>
            <a:ext cx="4882896" cy="3017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36792" y="155448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2-Role 구조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36792" y="177165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검증 워크플로우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36792" y="198882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데이터 흐름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388870"/>
            <a:ext cx="5614416" cy="12001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388870"/>
            <a:ext cx="54864" cy="12001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" y="2516886"/>
            <a:ext cx="38404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2516886"/>
            <a:ext cx="384048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2516886"/>
            <a:ext cx="4882896" cy="3017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기능 (보험사)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3776" y="2846070"/>
            <a:ext cx="5358384" cy="164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대시보드 KPI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" y="3010662"/>
            <a:ext cx="5358384" cy="164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검증 건 관리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" y="3175254"/>
            <a:ext cx="5358384" cy="164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파일·코멘트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" y="3339846"/>
            <a:ext cx="5358384" cy="164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기관·멤버 관리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" y="3504438"/>
            <a:ext cx="5358384" cy="164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아카이브·리포트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08776" y="2388870"/>
            <a:ext cx="5614416" cy="12001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2388870"/>
            <a:ext cx="54864" cy="12001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36792" y="2516886"/>
            <a:ext cx="38404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2516886"/>
            <a:ext cx="384048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03136" y="2516886"/>
            <a:ext cx="4882896" cy="3017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포털 기능 (검증기관)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36792" y="2846070"/>
            <a:ext cx="5358384" cy="164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포털 대시보드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36792" y="3010662"/>
            <a:ext cx="5358384" cy="164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검증 건 처리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36792" y="3175254"/>
            <a:ext cx="5358384" cy="164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멤버·프로필 관리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36792" y="3339846"/>
            <a:ext cx="5358384" cy="164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실적 조회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0460"/>
            <a:ext cx="5614416" cy="12001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680460"/>
            <a:ext cx="54864" cy="12001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" y="3808476"/>
            <a:ext cx="38404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808476"/>
            <a:ext cx="384048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60120" y="3808476"/>
            <a:ext cx="4882896" cy="3017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및 접근 제어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93776" y="413766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RLS 행 수준 보안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3776" y="435483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역할별 권한 분리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3776" y="457200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초대 기반 온보딩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08776" y="3680460"/>
            <a:ext cx="5614416" cy="12001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08776" y="3680460"/>
            <a:ext cx="54864" cy="12001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36792" y="3808476"/>
            <a:ext cx="38404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36792" y="3808476"/>
            <a:ext cx="384048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03136" y="3808476"/>
            <a:ext cx="4882896" cy="3017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&amp; 커뮤니케이션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336792" y="413766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파일 버전 관리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336792" y="435483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Supabase Storage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336792" y="457200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실시간 코멘트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65760" y="4972050"/>
            <a:ext cx="5614416" cy="12001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4972050"/>
            <a:ext cx="54864" cy="12001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3776" y="5100066"/>
            <a:ext cx="38404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3776" y="5100066"/>
            <a:ext cx="384048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60120" y="5100066"/>
            <a:ext cx="4882896" cy="3017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493776" y="542925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Next.js 15 App Router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93776" y="564642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Supabase PostgreSQL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93776" y="5863590"/>
            <a:ext cx="5358384" cy="2171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Resend 이메일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208776" y="4972050"/>
            <a:ext cx="5614416" cy="12001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08776" y="4972050"/>
            <a:ext cx="54864" cy="12001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36792" y="5100066"/>
            <a:ext cx="38404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36792" y="5100066"/>
            <a:ext cx="384048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803136" y="5100066"/>
            <a:ext cx="4882896" cy="3017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6336792" y="5429250"/>
            <a:ext cx="5358384" cy="3257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도입 효과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336792" y="5755005"/>
            <a:ext cx="5358384" cy="3257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확장 방향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102687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 — IPPP란 무엇인가?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57432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1091672" cy="4754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보험사(내부)와 외부 검증기관 간의 상품·위험률 검증 업무를 디지털화하여 검증 건 생성부터 완료까지 원스톱 관리하는 B2B SaaS 플랫폼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65376"/>
            <a:ext cx="5646420" cy="210769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02536"/>
            <a:ext cx="5372100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🏢  보험사 내부 사용자 (어드민)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검증 건 생성 · 배정 · 상태 관리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906268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검증기관 및 멤버 관리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371088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아카이브 조회 · 기관별 실적 리포트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6772" y="1865376"/>
            <a:ext cx="5646420" cy="210769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3932" y="2002536"/>
            <a:ext cx="5372100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🏛  검증기관 외부 사용자 (포털)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13932" y="2441448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배정된 검증 건 목록 조회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13932" y="2906268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파일 업로드 및 코멘트 소통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13932" y="3371088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 멤버 초대 · 실적 조회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064508"/>
            <a:ext cx="5646420" cy="210769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01668"/>
            <a:ext cx="5372100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검증 유형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" y="4640580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위험률 검증 (hazard_rate)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5105400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상품 검증 (product)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5570220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연도별 회계연도(fiscal_year) 분류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6772" y="4064508"/>
            <a:ext cx="5646420" cy="210769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3932" y="4201668"/>
            <a:ext cx="5372100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 검증 상태 흐름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13932" y="4640580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초안(draft) → 진행중(in_progress)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13932" y="5105400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진행중 → 보류(on_hold) / 완료(completed)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13932" y="5570220"/>
            <a:ext cx="5372100" cy="464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완료 건 → 아카이브 자동 이관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102687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636264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3636264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🏢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(보험사)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3453384" cy="18288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검증 건 생성·관리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3453384" cy="18288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 등록·초대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453384" cy="18288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상태 변경·완료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0312" y="1709928"/>
            <a:ext cx="237744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0312" y="1527048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요청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6344" y="1115568"/>
            <a:ext cx="3636264" cy="1280160"/>
          </a:xfrm>
          <a:prstGeom prst="rect">
            <a:avLst/>
          </a:prstGeom>
          <a:solidFill>
            <a:srgbClr val="1A3A5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6344" y="1207008"/>
            <a:ext cx="3636264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67784" y="1847088"/>
            <a:ext cx="3453384" cy="16459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PostgreSQL DB + RLS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67784" y="1984248"/>
            <a:ext cx="3453384" cy="16459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Auth (JWT)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67784" y="2121408"/>
            <a:ext cx="3453384" cy="16459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Storage (파일)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67784" y="2258568"/>
            <a:ext cx="3453384" cy="16459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Realtime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30896" y="1709928"/>
            <a:ext cx="237744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0896" y="1527048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결과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86928" y="1115568"/>
            <a:ext cx="3636264" cy="1280160"/>
          </a:xfrm>
          <a:prstGeom prst="rect">
            <a:avLst/>
          </a:prstGeom>
          <a:solidFill>
            <a:srgbClr val="14532D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6928" y="1207008"/>
            <a:ext cx="3636264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🏛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포털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78368" y="1847088"/>
            <a:ext cx="3453384" cy="16459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검증 건 조회·처리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8368" y="1984248"/>
            <a:ext cx="3453384" cy="16459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파일 업로드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78368" y="2121408"/>
            <a:ext cx="3453384" cy="16459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코멘트 소통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78368" y="2258568"/>
            <a:ext cx="3453384" cy="16459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실적 조회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2596896"/>
            <a:ext cx="11457432" cy="2743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워크플로우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5760" y="2926080"/>
            <a:ext cx="2203704" cy="32461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66444" y="3017520"/>
            <a:ext cx="402336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66444" y="3017520"/>
            <a:ext cx="402336" cy="32918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0624" y="3401568"/>
            <a:ext cx="2093976" cy="2743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건 생성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0624" y="3694176"/>
            <a:ext cx="2093976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어드민이 제목·유형·기관·마감일 설정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79192" y="2926080"/>
            <a:ext cx="2203704" cy="32461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79876" y="3017520"/>
            <a:ext cx="402336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79876" y="3017520"/>
            <a:ext cx="402336" cy="32918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734056" y="3401568"/>
            <a:ext cx="2093976" cy="2743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 전환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34056" y="3694176"/>
            <a:ext cx="2093976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→ in_progress, 기관에 알림 발송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92624" y="2926080"/>
            <a:ext cx="2203704" cy="32461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3308" y="3017520"/>
            <a:ext cx="402336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3308" y="3017520"/>
            <a:ext cx="402336" cy="32918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047488" y="3401568"/>
            <a:ext cx="2093976" cy="2743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업로드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47488" y="3694176"/>
            <a:ext cx="2093976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또는 기관 담당자가 파일 첨부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06056" y="2926080"/>
            <a:ext cx="2203704" cy="32461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06740" y="3017520"/>
            <a:ext cx="402336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06740" y="3017520"/>
            <a:ext cx="402336" cy="32918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360920" y="3401568"/>
            <a:ext cx="2093976" cy="2743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코멘트 소통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60920" y="3694176"/>
            <a:ext cx="2093976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코멘트로 피드백 교환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19488" y="2926080"/>
            <a:ext cx="2203704" cy="32461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20172" y="3017520"/>
            <a:ext cx="402336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20172" y="3017520"/>
            <a:ext cx="402336" cy="32918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674352" y="3401568"/>
            <a:ext cx="2093976" cy="2743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처리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674352" y="3694176"/>
            <a:ext cx="2093976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어드민이 완료 전환 → 아카이브 자동 이관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5897880"/>
            <a:ext cx="11457432" cy="292608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" y="5897880"/>
            <a:ext cx="11237976" cy="29260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📧  상태 변경 시 Resend를 통해 관련 담당자에게 자동 이메일 알림 발송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84399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— 로그인 &amp; 대시보드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94392" y="164592"/>
            <a:ext cx="169164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164592"/>
            <a:ext cx="1691640" cy="34747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  로그인 &amp; 인증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이메일 + 비밀번호 로그인 (Supabase Auth)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역할 자동 감지 → 어드민/포털 분기 리다이렉트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비밀번호 재설정 이메일 발송 지원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초대 링크 기반 신규 계정 생성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50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KPI 대시보드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322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전체 활성 건수 (진행중 + 보류)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322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이번 달 완료 건수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22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D-7 마감 임박 건수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22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참여 기관 수 (활성 건 보유)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최근 진행중 검증 건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4256532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진행중 상태 검증 건 최대 8건 표시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849368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기관명 · 상태 배지 · 마감일 카운트다운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5442204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클릭 시 검증 건 상세 페이지 이동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950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22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🏛  기관별 활성 건수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332220" y="4256532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 아바타 + 기관명 + 활성 건 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32220" y="4849368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실시간 집계 현황 표시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32220" y="5442204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기관별 업무량 한눈에 파악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84399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— 검증 건 목록 &amp; 필터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94392" y="164592"/>
            <a:ext cx="169164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164592"/>
            <a:ext cx="1691640" cy="34747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 필터 바 (FilterBar)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상태 필터: 전체 / 초안 / 진행중 / 보류 / 완료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 필터: 등록된 활성 기관 목록 선택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회계연도 필터: fiscal_year 기준 분류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키워드 검색: 제목 기반 텍스트 검색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50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➕  새 검증 건 생성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322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제목 · 유형(위험률/상품) · 설명 입력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322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배정 기관 선택 · 마감일 설정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22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위험률 유형 태그 / 상품 유형 태그 지정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22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초안(draft) 상태로 생성 → 이후 진행중 전환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🃏  검증 건 카드 목록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4256532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반응형 그리드 (sm: 2열, xl: 3열)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849368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상태 배지 · 기관명 · 마감일 표시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5442204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D-day 카운트다운 자동 계산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950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22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 상태 배지 체계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332220" y="4256532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초안: 회색 · 진행중: 파란색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32220" y="4849368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보류: 주황색 · 완료: 초록색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32220" y="5442204"/>
            <a:ext cx="5353812" cy="59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URL 파라미터 기반 필터 상태 유지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84399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— 검증 건 상세 &amp; 상태 관리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94392" y="164592"/>
            <a:ext cx="169164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164592"/>
            <a:ext cx="1691640" cy="34747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709416" cy="16459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 기본 정보 표시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제목 · 검증 유형 배지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06524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기관명 · 마감일 · D-day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139696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설명 텍스트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372868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위험률/상품 유형 태그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39768" y="1097280"/>
            <a:ext cx="3709416" cy="16459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6928" y="123444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 상태 전환 액션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76928" y="1673352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초안 → 진행중 (파일 없어도 전환 가능)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76928" y="1906524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진행중 → 보류 / 완료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76928" y="2139696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완료 시 파일 필수 조건 확인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6928" y="2372868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완료 → 아카이브 자동 이관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13776" y="1097280"/>
            <a:ext cx="3709416" cy="16459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0936" y="123444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  상태 전환 제약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50936" y="1673352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draft: 파일 업로드 불가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50936" y="1906524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in_progress: 모든 기능 활성화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50936" y="2139696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completed: 파일 업로드 비활성화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50936" y="2372868"/>
            <a:ext cx="3435096" cy="2331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상태 변경 시 이메일 알림 자동 발송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11457432" cy="33375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944368"/>
            <a:ext cx="2743200" cy="25603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건 상태 흐름도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431036" y="3310128"/>
            <a:ext cx="1463040" cy="2770632"/>
          </a:xfrm>
          <a:prstGeom prst="rect">
            <a:avLst/>
          </a:prstGeom>
          <a:solidFill>
            <a:srgbClr val="F3F4F6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1036" y="3310128"/>
            <a:ext cx="1463040" cy="27706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921508" y="3310128"/>
            <a:ext cx="448056" cy="27706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396996" y="3310128"/>
            <a:ext cx="1463040" cy="2770632"/>
          </a:xfrm>
          <a:prstGeom prst="rect">
            <a:avLst/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6996" y="3310128"/>
            <a:ext cx="1463040" cy="27706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87468" y="3310128"/>
            <a:ext cx="448056" cy="27706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362956" y="3310128"/>
            <a:ext cx="1463040" cy="2770632"/>
          </a:xfrm>
          <a:prstGeom prst="rect">
            <a:avLst/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62956" y="3310128"/>
            <a:ext cx="1463040" cy="27706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보류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53428" y="3310128"/>
            <a:ext cx="448056" cy="27706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328916" y="3310128"/>
            <a:ext cx="1463040" cy="2770632"/>
          </a:xfrm>
          <a:prstGeom prst="rect">
            <a:avLst/>
          </a:prstGeom>
          <a:solidFill>
            <a:srgbClr val="ECFDF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28916" y="3310128"/>
            <a:ext cx="1463040" cy="27706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819388" y="3310128"/>
            <a:ext cx="448056" cy="27706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294876" y="3310128"/>
            <a:ext cx="1463040" cy="2770632"/>
          </a:xfrm>
          <a:prstGeom prst="rect">
            <a:avLst/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94876" y="3310128"/>
            <a:ext cx="1463040" cy="27706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아카이브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84399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— 파일 업로드 &amp; 코멘트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94392" y="164592"/>
            <a:ext cx="169164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164592"/>
            <a:ext cx="1691640" cy="34747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 파일 업로드 (FileUploadZone)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드래그&amp;드롭 또는 클릭으로 파일 선택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Supabase Storage에 안전하게 저장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업로드 시 기관 ID 경로 분리 저장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진행중 상태에서만 업로드 활성화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50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📜  파일 버전 히스토리 (FileVersionHistory)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322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업로드된 모든 파일 목록 표시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322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파일명 · 업로드자 · 업로드 일시 표시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22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Signed URL로 안전한 다운로드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22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어드민/기관 공통 접근 (RLS 적용)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 코멘트 스레드 (CommentThread)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425653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검증 건별 실시간 코멘트 작성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70115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어드민 ↔ 기관 담당자 양방향 소통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514578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코멘트 작성자 · 시간 표시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559041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500px 고정 높이 스크롤 영역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950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22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보안 접근 제어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32220" y="425653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Supabase RLS로 기관별 파일 격리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32220" y="470115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Signed URL 만료 시간 설정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32220" y="514578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API Route에서 service_role 키 사용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32220" y="559041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미인증 접근 자동 차단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84399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— 검증기관 관리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94392" y="164592"/>
            <a:ext cx="169164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164592"/>
            <a:ext cx="1691640" cy="34747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709416" cy="2011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🏛  기관 등록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기관명 (필수)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97964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대표 연락처 · 이메일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22576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계약일 · 소재지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47188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즉시 활성 상태로 등록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39768" y="1097280"/>
            <a:ext cx="3709416" cy="2011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6928" y="123444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📧  관리자 초대 (Resend)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76928" y="1673352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agency_admin 역할로 초대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76928" y="1997964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이메일로 초대 링크 자동 발송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76928" y="2322576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72시간 유효 토큰 생성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6928" y="2647188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초대 수락 시 계정 자동 생성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13776" y="1097280"/>
            <a:ext cx="3709416" cy="2011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0936" y="123444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🚫  기관 비활성화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50936" y="1673352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진행 중 검증 건 경고 표시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50936" y="1997964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비활성화 후 포털 접근 차단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50936" y="2322576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완료된 검증 건 기록 보존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50936" y="2647188"/>
            <a:ext cx="3435096" cy="3246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재활성화 지원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11457432" cy="29718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91840"/>
            <a:ext cx="2743200" cy="25603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목록 테이블 구성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3602736"/>
            <a:ext cx="1863852" cy="24780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" y="3657600"/>
            <a:ext cx="1790700" cy="2368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기관명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아바타 + 기관명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66772" y="3602736"/>
            <a:ext cx="1863852" cy="24780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03348" y="3657600"/>
            <a:ext cx="1790700" cy="2368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전화번호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30624" y="3602736"/>
            <a:ext cx="1863852" cy="24780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67200" y="3657600"/>
            <a:ext cx="1790700" cy="2368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이메일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94476" y="3602736"/>
            <a:ext cx="1863852" cy="24780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31052" y="3657600"/>
            <a:ext cx="1790700" cy="2368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계약일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시작일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58328" y="3602736"/>
            <a:ext cx="1863852" cy="24780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94904" y="3657600"/>
            <a:ext cx="1790700" cy="2368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활성/비활성 배지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822180" y="3602736"/>
            <a:ext cx="1863852" cy="2478024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58756" y="3657600"/>
            <a:ext cx="1790700" cy="2368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초대 · 비활성화 버튼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84399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— 멤버 &amp; 설정 관리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94392" y="164592"/>
            <a:ext cx="169164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164592"/>
            <a:ext cx="1691640" cy="34747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👥  내부 멤버 관리 (super_admin 전용)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ippp_internal_members 테이블 관리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역할: super_admin / admin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멤버 활성화 / 비활성화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신규 멤버 초대 이메일 발송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50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🔑  역할 체계 (Internal)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322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super_admin: 최고 관리자 — 모든 권한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322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admin: 일반 관리자 — 검증 건 관리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22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설정 &gt; 멤버 메뉴는 super_admin 전용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22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권한 외 접근 시 오류 메시지 표시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📩  초대 온보딩 프로세스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425653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어드민이 이메일로 초대 발송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70115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72시간 유효 초대 토큰 생성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514578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/auth/invite 페이지에서 비밀번호 설정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559041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설정 완료 후 자동 로그인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950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22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🛡  보안 정책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32220" y="425653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Supabase RLS: 행 단위 접근 제어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32220" y="470115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미인증 사용자 미들웨어 차단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32220" y="514578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service_role 키: 서버/API Route 전용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32220" y="559041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ANON 키: 클라이언트 read-only 제한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84399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 — 아카이브 &amp; 리포트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94392" y="164592"/>
            <a:ext cx="169164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164592"/>
            <a:ext cx="1691640" cy="34747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어드민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🗄  검증 DB 아카이브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완료(completed) 상태 검증 건 전체 보관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 · 연도 · 키워드 필터 지원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제목 · 기관 · 유형 · 상태 · 연도 · 완료일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읽기 전용 — 영구 보존 이력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50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  기관별 실적 리포트 (어드민)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322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기간 선택: 이번 달 / 분기 / 연간 / 직접 설정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322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기관별 완료 건수 · 평균 처리 기간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22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AgencyPerformanceTable 컴포넌트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22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Suspense 스켈레톤 로딩 처리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🔎  아카이브 필터 조건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425653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 필터: 특정 기관만 조회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70115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회계연도 필터: fiscal_year 기준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514578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키워드 검색: 검증 건 제목 검색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559041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URL 파라미터 기반 필터 상태 유지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950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22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📅  리포트 기간 옵션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32220" y="425653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month: 이번 달 기준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32220" y="470115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quarter: 이번 분기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32220" y="514578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year: 이번 연도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32220" y="559041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custom: 시작일~종료일 직접 입력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84399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포털 — 대시보드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94392" y="164592"/>
            <a:ext cx="169164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164592"/>
            <a:ext cx="1691640" cy="34747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포털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709416" cy="1417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3709416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3435096" cy="2743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 검증 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3435096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 + 보류 합산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기관의 현재 처리 중인 건수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39768" y="1097280"/>
            <a:ext cx="3709416" cy="1417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39768" y="1097280"/>
            <a:ext cx="370941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6928" y="1234440"/>
            <a:ext cx="457200" cy="4572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76928" y="1737360"/>
            <a:ext cx="3435096" cy="2743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D-7 마감 임박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76928" y="2029968"/>
            <a:ext cx="3435096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 이내 마감 예정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긴급 처리가 필요한 건수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3776" y="1097280"/>
            <a:ext cx="3709416" cy="1417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3776" y="1097280"/>
            <a:ext cx="3709416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0936" y="1234440"/>
            <a:ext cx="457200" cy="4572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50936" y="1737360"/>
            <a:ext cx="3435096" cy="2743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완료 건수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50936" y="2029968"/>
            <a:ext cx="3435096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완료 처리 건수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기관의 전체 실적 총계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606040"/>
            <a:ext cx="3709416" cy="35661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4320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🃏  담당 검증 건 목록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" y="3182112"/>
            <a:ext cx="3435096" cy="950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배정된 검증 건 카드 그리드 표시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133088"/>
            <a:ext cx="3435096" cy="950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상태 배지 · 마감일 · D-day 표시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5084064"/>
            <a:ext cx="3435096" cy="950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클릭 시 검증 건 상세 페이지 이동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39768" y="2606040"/>
            <a:ext cx="3709416" cy="35661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6928" y="274320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  기관 격리 보안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376928" y="3182112"/>
            <a:ext cx="3435096" cy="950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RLS로 소속 기관 검증 건만 조회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76928" y="4133088"/>
            <a:ext cx="3435096" cy="950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타 기관 데이터 자동 차단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76928" y="5084064"/>
            <a:ext cx="3435096" cy="950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agency_id 기반 데이터 필터링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13776" y="2606040"/>
            <a:ext cx="3709416" cy="35661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0936" y="274320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📱  반응형 UI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250936" y="3182112"/>
            <a:ext cx="3435096" cy="950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모바일~데스크탑 대응 레이아웃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50936" y="4133088"/>
            <a:ext cx="3435096" cy="950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사이드바 + 메인 콘텐츠 구조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50936" y="5084064"/>
            <a:ext cx="3435096" cy="9509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 포털 전용 네비게이션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84399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포털 — 검증 건 처리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94392" y="164592"/>
            <a:ext cx="169164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164592"/>
            <a:ext cx="1691640" cy="34747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포털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 검증 건 상세 조회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제목 · 상태 배지 · 검증 유형 태그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마감일 및 D-day 카운트다운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설명 텍스트 · 위험률/상품 유형 태그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기관 일치 검증 (타 기관 데이터 차단)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5060" y="109728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23444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 파일 업로드 (기관)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32220" y="167335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진행중 · 보류 상태에서 업로드 가능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32220" y="211797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검증 결과 파일 첨부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2220" y="256260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업로드 이력 목록 확인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2220" y="300723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어드민이 올린 파일도 다운로드 가능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 코멘트 소통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425653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어드민 ↔ 기관 실시간 코멘트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70115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질의 응답 · 추가 자료 요청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514578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작성자 구분 표시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559041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500px 스크롤 영역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95060" y="3680460"/>
            <a:ext cx="5628132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2220" y="3817620"/>
            <a:ext cx="5353812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접근 제어 (기관)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32220" y="4256532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RLS: 소속 기관 검증 건만 접근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32220" y="4701159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상태 변경 권한 없음 (조회/파일/코멘트)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32220" y="5145786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완료된 건: 파일 업로드 비활성화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32220" y="5590413"/>
            <a:ext cx="5353812" cy="444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미인증 자동 리다이렉트 → 로그인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84399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포털 — 멤버 관리 &amp; 프로필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94392" y="164592"/>
            <a:ext cx="169164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4392" y="164592"/>
            <a:ext cx="1691640" cy="34747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포털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709416" cy="19202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👤  멤버 관리 (agency_admin)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agency_admin만 접근 가능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소속 기관 멤버 전체 목록 조회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276856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멤버 활성화 / 비활성화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신규 멤버 초대 이메일 발송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39768" y="1097280"/>
            <a:ext cx="3709416" cy="19202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6928" y="123444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🏷  역할 체계 (Agency)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76928" y="1673352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agency_admin: 기관 담당자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76928" y="1975104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멤버 관리 + 검증 건 처리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76928" y="2276856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agency_member: 일반 멤버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6928" y="2578608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검증 건 처리만 가능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13776" y="1097280"/>
            <a:ext cx="3709416" cy="19202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0936" y="1234440"/>
            <a:ext cx="3435096" cy="3840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  실적 조회 (기관)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50936" y="1673352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기간별 완료 건수 조회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50936" y="1975104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month / quarter / year / custom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50936" y="2276856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AgencyReportSummary 컴포넌트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50936" y="2578608"/>
            <a:ext cx="3435096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자기 기관 실적만 조회 가능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11457432" cy="30632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18688"/>
            <a:ext cx="2743200" cy="2743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👤  프로필 관리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3547872"/>
            <a:ext cx="2795778" cy="2532888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" y="3621024"/>
            <a:ext cx="2686050" cy="2386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소속 기관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기관명 + 이메일 표시 (변경 불가)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8698" y="3547872"/>
            <a:ext cx="2795778" cy="2532888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3562" y="3621024"/>
            <a:ext cx="2686050" cy="2386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 정보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 · 연락처 수정 가능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94476" y="3547872"/>
            <a:ext cx="2795778" cy="2532888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9340" y="3621024"/>
            <a:ext cx="2686050" cy="2386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변경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8자 이상 새 비밀번호 설정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90254" y="3547872"/>
            <a:ext cx="2795778" cy="2532888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45118" y="3621024"/>
            <a:ext cx="2686050" cy="2386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Auth updateUser API 호출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" cy="32004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54864"/>
            <a:ext cx="10268712" cy="47548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709416" cy="2491740"/>
          </a:xfrm>
          <a:prstGeom prst="rect">
            <a:avLst/>
          </a:prstGeom>
          <a:solidFill>
            <a:srgbClr val="F9FAFB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3709416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225296"/>
            <a:ext cx="3453384" cy="36576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 Next.js 15 (App Router)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" y="1645920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React 19 + Server Components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" y="2008937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Route Group 기반 역할 분리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2371954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(admin) / (agency) / (public)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2734970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TypeScript strict 모드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3097987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Vercel 서버리스 배포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39768" y="1097280"/>
            <a:ext cx="3709416" cy="2491740"/>
          </a:xfrm>
          <a:prstGeom prst="rect">
            <a:avLst/>
          </a:prstGeom>
          <a:solidFill>
            <a:srgbClr val="F9FAFB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39768" y="1097280"/>
            <a:ext cx="3709416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7784" y="1225296"/>
            <a:ext cx="3453384" cy="36576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🗄  Supabase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67784" y="1645920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PostgreSQL — ippp_ 접두사 테이블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67784" y="2008937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Row Level Security (RLS)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67784" y="2371954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Auth — JWT 기반 인증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67784" y="2734970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Storage — 파일 업로드 버킷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67784" y="3097987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Realtime — 코멘트 구독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13776" y="1097280"/>
            <a:ext cx="3709416" cy="2491740"/>
          </a:xfrm>
          <a:prstGeom prst="rect">
            <a:avLst/>
          </a:prstGeom>
          <a:solidFill>
            <a:srgbClr val="F9FAFB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3776" y="1097280"/>
            <a:ext cx="3709416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1792" y="1225296"/>
            <a:ext cx="3453384" cy="36576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 UI &amp; 스타일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41792" y="1645920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TweakCN (shadcn/ui 기반)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41792" y="2008937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Tailwind CSS v4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41792" y="2371954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lucide-react 아이콘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41792" y="2734970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sonner 토스트 알림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41792" y="3097987"/>
            <a:ext cx="3453384" cy="3630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Noto Sans KR 폰트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680460"/>
            <a:ext cx="3709416" cy="2491740"/>
          </a:xfrm>
          <a:prstGeom prst="rect">
            <a:avLst/>
          </a:prstGeom>
          <a:solidFill>
            <a:srgbClr val="F9FAFB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680460"/>
            <a:ext cx="3709416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808476"/>
            <a:ext cx="3453384" cy="36576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📧  Resend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3776" y="4229100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초대 이메일 발송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" y="4682871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상태 변경 알림 이메일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" y="5136642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비밀번호 재설정 이메일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" y="5590413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RESEND_API_KEY 환경 변수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39768" y="3680460"/>
            <a:ext cx="3709416" cy="2491740"/>
          </a:xfrm>
          <a:prstGeom prst="rect">
            <a:avLst/>
          </a:prstGeom>
          <a:solidFill>
            <a:srgbClr val="F9FAFB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39768" y="3680460"/>
            <a:ext cx="3709416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67784" y="3808476"/>
            <a:ext cx="3453384" cy="36576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  보안 &amp; 인프라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367784" y="4229100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Supabase RLS 행 수준 보안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67784" y="4682871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middleware.ts 미인증 차단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367784" y="5136642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service_role 키: 서버 전용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67784" y="5590413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Signed URL 파일 접근 제어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13776" y="3680460"/>
            <a:ext cx="3709416" cy="2491740"/>
          </a:xfrm>
          <a:prstGeom prst="rect">
            <a:avLst/>
          </a:prstGeom>
          <a:solidFill>
            <a:srgbClr val="F9FAFB"/>
          </a:solidFill>
          <a:ln w="15875">
            <a:solidFill>
              <a:srgbClr val="3741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13776" y="3680460"/>
            <a:ext cx="3709416" cy="640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41792" y="3808476"/>
            <a:ext cx="3453384" cy="36576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🧰  개발 도구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241792" y="4229100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zod — 스키마 유효성 검사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41792" y="4682871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date-fns — 날짜 처리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41792" y="5136642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react-day-picker — 날짜 선택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41792" y="5590413"/>
            <a:ext cx="3453384" cy="45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Supabase CLI — 마이그레이션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0"/>
            <a:ext cx="1218895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0"/>
            <a:ext cx="11457432" cy="7315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IPPP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11457432" cy="41148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Insurer Product Proof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3575304" cy="594360"/>
          </a:xfrm>
          <a:prstGeom prst="rect">
            <a:avLst/>
          </a:prstGeom>
          <a:solidFill>
            <a:srgbClr val="1A3357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08960"/>
            <a:ext cx="3392424" cy="59436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🏢  보험사 내부 업무 디지털화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98264" y="3108960"/>
            <a:ext cx="3575304" cy="594360"/>
          </a:xfrm>
          <a:prstGeom prst="rect">
            <a:avLst/>
          </a:prstGeom>
          <a:solidFill>
            <a:srgbClr val="1A3357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9704" y="3108960"/>
            <a:ext cx="3392424" cy="59436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 검증 워크플로우 자동화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65008" y="3108960"/>
            <a:ext cx="3575304" cy="594360"/>
          </a:xfrm>
          <a:prstGeom prst="rect">
            <a:avLst/>
          </a:prstGeom>
          <a:solidFill>
            <a:srgbClr val="1A3357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6448" y="3108960"/>
            <a:ext cx="3392424" cy="59436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기관별 데이터 격리 보안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77440" y="3931920"/>
            <a:ext cx="1325880" cy="292608"/>
          </a:xfrm>
          <a:prstGeom prst="rect">
            <a:avLst/>
          </a:prstGeom>
          <a:solidFill>
            <a:srgbClr val="152B4A"/>
          </a:solidFill>
          <a:ln w="9525">
            <a:solidFill>
              <a:srgbClr val="2E4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3931920"/>
            <a:ext cx="1325880" cy="29260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04488" y="3931920"/>
            <a:ext cx="1325880" cy="292608"/>
          </a:xfrm>
          <a:prstGeom prst="rect">
            <a:avLst/>
          </a:prstGeom>
          <a:solidFill>
            <a:srgbClr val="152B4A"/>
          </a:solidFill>
          <a:ln w="9525">
            <a:solidFill>
              <a:srgbClr val="2E4F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4488" y="3931920"/>
            <a:ext cx="1325880" cy="29260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31536" y="3931920"/>
            <a:ext cx="1325880" cy="292608"/>
          </a:xfrm>
          <a:prstGeom prst="rect">
            <a:avLst/>
          </a:prstGeom>
          <a:solidFill>
            <a:srgbClr val="152B4A"/>
          </a:solidFill>
          <a:ln w="9525">
            <a:solidFill>
              <a:srgbClr val="2E4F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3931920"/>
            <a:ext cx="1325880" cy="29260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58584" y="3931920"/>
            <a:ext cx="1325880" cy="292608"/>
          </a:xfrm>
          <a:prstGeom prst="rect">
            <a:avLst/>
          </a:prstGeom>
          <a:solidFill>
            <a:srgbClr val="152B4A"/>
          </a:solidFill>
          <a:ln w="9525">
            <a:solidFill>
              <a:srgbClr val="2E4F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58584" y="3931920"/>
            <a:ext cx="1325880" cy="29260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85632" y="3931920"/>
            <a:ext cx="1325880" cy="292608"/>
          </a:xfrm>
          <a:prstGeom prst="rect">
            <a:avLst/>
          </a:prstGeom>
          <a:solidFill>
            <a:srgbClr val="152B4A"/>
          </a:solidFill>
          <a:ln w="9525">
            <a:solidFill>
              <a:srgbClr val="2E4F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3931920"/>
            <a:ext cx="1325880" cy="292608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5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Vercel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572000"/>
            <a:ext cx="11457432" cy="4572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업무의 디지털 전환, IPPP로 시작하세요.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1371600" cy="25603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9BB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/ 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Insurer Product Proof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Insurer Product Proof Platform (IPPP) Presentation</dc:title>
  <dc:subject>IPPP — 보험사 상품 검증 관리 플랫폼 소개</dc:subject>
  <dc:creator>IPPP System</dc:creator>
  <cp:lastModifiedBy>IPPP System</cp:lastModifiedBy>
  <cp:revision>1</cp:revision>
  <dcterms:created xsi:type="dcterms:W3CDTF">2026-04-09T00:29:23Z</dcterms:created>
  <dcterms:modified xsi:type="dcterms:W3CDTF">2026-04-09T00:29:23Z</dcterms:modified>
</cp:coreProperties>
</file>